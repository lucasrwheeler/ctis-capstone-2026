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handoutMasterIdLst>
    <p:handoutMasterId r:id="rId17"/>
  </p:handoutMasterIdLst>
  <p:sldIdLst>
    <p:sldId id="436" r:id="rId5"/>
    <p:sldId id="437" r:id="rId6"/>
    <p:sldId id="438" r:id="rId7"/>
    <p:sldId id="439" r:id="rId8"/>
    <p:sldId id="440" r:id="rId9"/>
    <p:sldId id="449" r:id="rId10"/>
    <p:sldId id="451" r:id="rId11"/>
    <p:sldId id="450" r:id="rId12"/>
    <p:sldId id="441" r:id="rId13"/>
    <p:sldId id="448" r:id="rId14"/>
    <p:sldId id="44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5394" autoAdjust="0"/>
  </p:normalViewPr>
  <p:slideViewPr>
    <p:cSldViewPr snapToGrid="0">
      <p:cViewPr varScale="1">
        <p:scale>
          <a:sx n="153" d="100"/>
          <a:sy n="153" d="100"/>
        </p:scale>
        <p:origin x="524" y="100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55B9-0097-7273-95F8-0A48490A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7724B-C0D9-B19B-C612-CDA4E7E09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ED0EB-2D9F-19EA-DFE2-78E4BA21A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DF98B-7ADF-221E-B310-8A33EF27E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533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6199-F66C-8D60-24AF-001D6C15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FD5BE-636B-1B74-6719-D70B8CE5D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49F1C-35E3-F061-4E3B-A720701D1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A228B-2DC1-1314-D583-0F508BEC9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55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163BC-3C3F-1E14-6C87-3494EFA56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BBEEE-B721-BE77-081C-9F86E533F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6B99A-8387-EB58-57DA-165681D48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499B4-1A31-5856-1C3A-58C8AC0DF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37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65AB7-CEB8-64F8-A77A-2E25EBCE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BC25D-CC87-6B55-9865-2E97DFDA3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887C7-D9A2-A6E8-4927-8FCDC4D1C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7828D-5B29-928F-F131-BD5DD19D4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771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4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anchor="t" anchorCtr="0"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46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9D789-F69C-8306-0C19-DF73E6916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6415" y="360485"/>
            <a:ext cx="5032725" cy="328420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003524-9DE3-1117-2E91-80A1CB96DE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308475" cy="6858000"/>
          </a:xfrm>
          <a:custGeom>
            <a:avLst/>
            <a:gdLst>
              <a:gd name="connsiteX0" fmla="*/ 0 w 4308475"/>
              <a:gd name="connsiteY0" fmla="*/ 0 h 6858000"/>
              <a:gd name="connsiteX1" fmla="*/ 4308475 w 4308475"/>
              <a:gd name="connsiteY1" fmla="*/ 0 h 6858000"/>
              <a:gd name="connsiteX2" fmla="*/ 4308475 w 4308475"/>
              <a:gd name="connsiteY2" fmla="*/ 3390898 h 6858000"/>
              <a:gd name="connsiteX3" fmla="*/ 4307536 w 4308475"/>
              <a:gd name="connsiteY3" fmla="*/ 3390898 h 6858000"/>
              <a:gd name="connsiteX4" fmla="*/ 4290702 w 4308475"/>
              <a:gd name="connsiteY4" fmla="*/ 3724279 h 6858000"/>
              <a:gd name="connsiteX5" fmla="*/ 1146183 w 4308475"/>
              <a:gd name="connsiteY5" fmla="*/ 6848898 h 6858000"/>
              <a:gd name="connsiteX6" fmla="*/ 953984 w 4308475"/>
              <a:gd name="connsiteY6" fmla="*/ 6857998 h 6858000"/>
              <a:gd name="connsiteX7" fmla="*/ 4308475 w 4308475"/>
              <a:gd name="connsiteY7" fmla="*/ 6857998 h 6858000"/>
              <a:gd name="connsiteX8" fmla="*/ 4308475 w 4308475"/>
              <a:gd name="connsiteY8" fmla="*/ 6858000 h 6858000"/>
              <a:gd name="connsiteX9" fmla="*/ 0 w 43084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8475" h="6858000">
                <a:moveTo>
                  <a:pt x="0" y="0"/>
                </a:moveTo>
                <a:lnTo>
                  <a:pt x="4308475" y="0"/>
                </a:lnTo>
                <a:lnTo>
                  <a:pt x="4308475" y="3390898"/>
                </a:lnTo>
                <a:lnTo>
                  <a:pt x="4307536" y="3390898"/>
                </a:lnTo>
                <a:lnTo>
                  <a:pt x="4290702" y="3724279"/>
                </a:lnTo>
                <a:cubicBezTo>
                  <a:pt x="4122756" y="5378008"/>
                  <a:pt x="2802922" y="6691208"/>
                  <a:pt x="1146183" y="6848898"/>
                </a:cubicBezTo>
                <a:lnTo>
                  <a:pt x="953984" y="6857998"/>
                </a:lnTo>
                <a:lnTo>
                  <a:pt x="4308475" y="6857998"/>
                </a:lnTo>
                <a:lnTo>
                  <a:pt x="43084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E5C55B8-DD4C-A859-38F5-CC8FE0920B8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76306" y="3846391"/>
            <a:ext cx="5032725" cy="213671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600">
                <a:solidFill>
                  <a:schemeClr val="bg2"/>
                </a:solidFill>
              </a:defRPr>
            </a:lvl2pPr>
            <a:lvl3pPr marL="914400" indent="0">
              <a:buNone/>
              <a:defRPr sz="1400">
                <a:solidFill>
                  <a:schemeClr val="bg2"/>
                </a:solidFill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6DC123BA-30A1-50DE-FC24-33C67A8F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30876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18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593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B6590-E6B3-B91C-752E-88256804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6">
            <a:extLst>
              <a:ext uri="{FF2B5EF4-FFF2-40B4-BE49-F238E27FC236}">
                <a16:creationId xmlns:a16="http://schemas.microsoft.com/office/drawing/2014/main" id="{3A11B3D3-2DE9-50B1-D34F-653D4669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1493" y="365768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7">
            <a:extLst>
              <a:ext uri="{FF2B5EF4-FFF2-40B4-BE49-F238E27FC236}">
                <a16:creationId xmlns:a16="http://schemas.microsoft.com/office/drawing/2014/main" id="{5EEBEB28-1DE8-01FC-1208-CE71F445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836BB78A-11DB-CCF3-7F2E-C0243B409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0220F55-A7D0-A330-0E21-94E0D5EC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0734" y="835269"/>
            <a:ext cx="8690533" cy="282118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0B5AC1-38AD-9D8D-25F1-F8E10DE48A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45739" y="3858233"/>
            <a:ext cx="8700522" cy="195348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1600">
                <a:solidFill>
                  <a:schemeClr val="bg2"/>
                </a:solidFill>
              </a:defRPr>
            </a:lvl2pPr>
            <a:lvl3pPr marL="914400" indent="0" algn="ctr">
              <a:buNone/>
              <a:defRPr sz="1400">
                <a:solidFill>
                  <a:schemeClr val="bg2"/>
                </a:solidFill>
              </a:defRPr>
            </a:lvl3pPr>
            <a:lvl4pPr marL="1371600" indent="0" algn="ctr">
              <a:buNone/>
              <a:defRPr sz="1200">
                <a:solidFill>
                  <a:schemeClr val="bg2"/>
                </a:solidFill>
              </a:defRPr>
            </a:lvl4pPr>
            <a:lvl5pPr marL="18288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96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Aptos" panose="020B0004020202020204" pitchFamily="34" charset="0"/>
              </a:rPr>
              <a:t>Dynamic</a:t>
            </a:r>
            <a:br>
              <a:rPr lang="en-US" dirty="0"/>
            </a:br>
            <a:r>
              <a:rPr lang="en-US" sz="6600" dirty="0"/>
              <a:t>Academic</a:t>
            </a:r>
            <a:br>
              <a:rPr lang="en-US" sz="6600" dirty="0"/>
            </a:br>
            <a:r>
              <a:rPr lang="en-US" sz="6600" dirty="0"/>
              <a:t>Course Advisor</a:t>
            </a:r>
            <a:br>
              <a:rPr lang="en-US" dirty="0"/>
            </a:br>
            <a:r>
              <a:rPr lang="en-US" sz="3600" dirty="0">
                <a:latin typeface="Aptos Display" panose="020B0004020202020204" pitchFamily="34" charset="0"/>
              </a:rPr>
              <a:t>CTIS (440  Capstone)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48545" y="1477963"/>
            <a:ext cx="6948055" cy="4245350"/>
          </a:xfrm>
        </p:spPr>
        <p:txBody>
          <a:bodyPr>
            <a:normAutofit fontScale="62500" lnSpcReduction="20000"/>
          </a:bodyPr>
          <a:lstStyle/>
          <a:p>
            <a:r>
              <a:rPr lang="en-US" sz="2500" dirty="0"/>
              <a:t>The CTIS Information Portal will centralize and analyze data across multiple academic sources including </a:t>
            </a:r>
            <a:r>
              <a:rPr lang="en-US" sz="2500" b="1" dirty="0"/>
              <a:t>the CTIS and Cyber and Network Security (CNS) programs. </a:t>
            </a:r>
            <a:r>
              <a:rPr lang="en-US" sz="2500" dirty="0"/>
              <a:t>The platform will help users understand:</a:t>
            </a:r>
          </a:p>
          <a:p>
            <a:endParaRPr lang="en-US" dirty="0"/>
          </a:p>
          <a:p>
            <a:pPr fontAlgn="base"/>
            <a:r>
              <a:rPr lang="en-US" dirty="0"/>
              <a:t>- Which courses are required or recommended for each major.</a:t>
            </a:r>
          </a:p>
          <a:p>
            <a:pPr fontAlgn="base"/>
            <a:r>
              <a:rPr lang="en-US" dirty="0"/>
              <a:t>- Instructor information and contact details.</a:t>
            </a:r>
          </a:p>
          <a:p>
            <a:pPr fontAlgn="base"/>
            <a:r>
              <a:rPr lang="en-US" dirty="0"/>
              <a:t>- Credit hours, prerequisites, and recommended prior knowledge.</a:t>
            </a:r>
          </a:p>
          <a:p>
            <a:pPr fontAlgn="base"/>
            <a:r>
              <a:rPr lang="en-US" dirty="0"/>
              <a:t>- Course availability/eligibility per semester.</a:t>
            </a:r>
          </a:p>
          <a:p>
            <a:pPr fontAlgn="base"/>
            <a:r>
              <a:rPr lang="en-US" dirty="0"/>
              <a:t>- Student and alumni profiles (optional user-generated content).</a:t>
            </a:r>
          </a:p>
          <a:p>
            <a:pPr fontAlgn="base"/>
            <a:r>
              <a:rPr lang="en-US" dirty="0"/>
              <a:t>- Advisory-style planning, and recommendations</a:t>
            </a:r>
          </a:p>
          <a:p>
            <a:pPr marL="285750" indent="-285750" fontAlgn="base">
              <a:buFontTx/>
              <a:buChar char="-"/>
            </a:pPr>
            <a:endParaRPr lang="en-US" dirty="0"/>
          </a:p>
          <a:p>
            <a:r>
              <a:rPr lang="en-US" dirty="0"/>
              <a:t>Also, this system will incorporate </a:t>
            </a:r>
            <a:r>
              <a:rPr lang="en-US" b="1" dirty="0"/>
              <a:t>AI-powered insights</a:t>
            </a:r>
            <a:r>
              <a:rPr lang="en-US" dirty="0"/>
              <a:t> (via Amazon Bedrock) to generate personalized recommendations for students such as ideal course paths, preparation advice, or related resources.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067" y="52275"/>
            <a:ext cx="5750171" cy="1140602"/>
          </a:xfrm>
        </p:spPr>
        <p:txBody>
          <a:bodyPr/>
          <a:lstStyle/>
          <a:p>
            <a:r>
              <a:rPr lang="en-US" dirty="0"/>
              <a:t>CLOUD Architecture: </a:t>
            </a: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2EBC5878-1007-0F8E-3940-DE9D1D088B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>
          <a:xfrm>
            <a:off x="7877908" y="-1"/>
            <a:ext cx="4314092" cy="6858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0390FD-0D66-BDD9-19C5-68E165391BD5}"/>
              </a:ext>
            </a:extLst>
          </p:cNvPr>
          <p:cNvSpPr txBox="1"/>
          <p:nvPr/>
        </p:nvSpPr>
        <p:spPr>
          <a:xfrm>
            <a:off x="569121" y="1055904"/>
            <a:ext cx="7021433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Aft>
                <a:spcPts val="1200"/>
              </a:spcAft>
            </a:pPr>
            <a:r>
              <a:rPr lang="en-US" b="1" u="sng" dirty="0">
                <a:solidFill>
                  <a:schemeClr val="bg2"/>
                </a:solidFill>
              </a:rPr>
              <a:t>Frontend</a:t>
            </a:r>
            <a:r>
              <a:rPr lang="en-US" b="1" dirty="0">
                <a:solidFill>
                  <a:schemeClr val="bg2"/>
                </a:solidFill>
              </a:rPr>
              <a:t>:</a:t>
            </a:r>
            <a:r>
              <a:rPr lang="en-US" dirty="0">
                <a:solidFill>
                  <a:schemeClr val="bg2"/>
                </a:solidFill>
              </a:rPr>
              <a:t> React-based web interface hosted on Amazon S3 + CloudFront (static website hosting).</a:t>
            </a:r>
          </a:p>
          <a:p>
            <a:pPr fontAlgn="base">
              <a:spcAft>
                <a:spcPts val="1200"/>
              </a:spcAft>
            </a:pPr>
            <a:r>
              <a:rPr lang="en-US" b="1" u="sng" dirty="0">
                <a:solidFill>
                  <a:schemeClr val="bg2"/>
                </a:solidFill>
              </a:rPr>
              <a:t>Backend/API Layer</a:t>
            </a:r>
            <a:r>
              <a:rPr lang="en-US" b="1" dirty="0">
                <a:solidFill>
                  <a:schemeClr val="bg2"/>
                </a:solidFill>
              </a:rPr>
              <a:t>:</a:t>
            </a:r>
            <a:r>
              <a:rPr lang="en-US" dirty="0">
                <a:solidFill>
                  <a:schemeClr val="bg2"/>
                </a:solidFill>
              </a:rPr>
              <a:t> Amazon API Gateway to handle REST API requests.</a:t>
            </a:r>
          </a:p>
          <a:p>
            <a:pPr fontAlgn="base">
              <a:spcAft>
                <a:spcPts val="1200"/>
              </a:spcAft>
            </a:pPr>
            <a:r>
              <a:rPr lang="en-US" b="1" u="sng" dirty="0">
                <a:solidFill>
                  <a:schemeClr val="bg2"/>
                </a:solidFill>
              </a:rPr>
              <a:t>Compute Services</a:t>
            </a:r>
            <a:r>
              <a:rPr lang="en-US" b="1" dirty="0">
                <a:solidFill>
                  <a:schemeClr val="bg2"/>
                </a:solidFill>
              </a:rPr>
              <a:t>:</a:t>
            </a:r>
            <a:r>
              <a:rPr lang="en-US" dirty="0">
                <a:solidFill>
                  <a:schemeClr val="bg2"/>
                </a:solidFill>
              </a:rPr>
              <a:t> AWS Lambda for backend logic.</a:t>
            </a:r>
          </a:p>
          <a:p>
            <a:pPr fontAlgn="base">
              <a:spcAft>
                <a:spcPts val="1200"/>
              </a:spcAft>
            </a:pPr>
            <a:r>
              <a:rPr lang="en-US" b="1" u="sng" dirty="0">
                <a:solidFill>
                  <a:schemeClr val="bg2"/>
                </a:solidFill>
              </a:rPr>
              <a:t>Database Layer</a:t>
            </a:r>
            <a:r>
              <a:rPr lang="en-US" b="1" dirty="0">
                <a:solidFill>
                  <a:schemeClr val="bg2"/>
                </a:solidFill>
              </a:rPr>
              <a:t>:</a:t>
            </a:r>
            <a:r>
              <a:rPr lang="en-US" dirty="0">
                <a:solidFill>
                  <a:schemeClr val="bg2"/>
                </a:solidFill>
              </a:rPr>
              <a:t> Amazon RDS (for structured catalog data) and DynamoDB (for dynamic user profiles and session data).</a:t>
            </a:r>
          </a:p>
          <a:p>
            <a:pPr fontAlgn="base">
              <a:spcAft>
                <a:spcPts val="1200"/>
              </a:spcAft>
            </a:pPr>
            <a:r>
              <a:rPr lang="en-US" b="1" u="sng" dirty="0">
                <a:solidFill>
                  <a:schemeClr val="bg2"/>
                </a:solidFill>
              </a:rPr>
              <a:t>AI/ML Integration</a:t>
            </a:r>
            <a:r>
              <a:rPr lang="en-US" b="1" dirty="0">
                <a:solidFill>
                  <a:schemeClr val="bg2"/>
                </a:solidFill>
              </a:rPr>
              <a:t>:</a:t>
            </a:r>
            <a:r>
              <a:rPr lang="en-US" dirty="0">
                <a:solidFill>
                  <a:schemeClr val="bg2"/>
                </a:solidFill>
              </a:rPr>
              <a:t> Amazon Bedrock API for generating course insights or student-specific recommendations.</a:t>
            </a:r>
          </a:p>
          <a:p>
            <a:pPr>
              <a:spcAft>
                <a:spcPts val="1200"/>
              </a:spcAft>
            </a:pPr>
            <a:r>
              <a:rPr lang="en-US" b="1" u="sng" dirty="0">
                <a:solidFill>
                  <a:schemeClr val="bg2"/>
                </a:solidFill>
              </a:rPr>
              <a:t>Infrastructure as Code</a:t>
            </a:r>
            <a:r>
              <a:rPr lang="en-US" b="1" dirty="0">
                <a:solidFill>
                  <a:schemeClr val="bg2"/>
                </a:solidFill>
              </a:rPr>
              <a:t>:</a:t>
            </a:r>
            <a:r>
              <a:rPr lang="en-US" dirty="0">
                <a:solidFill>
                  <a:schemeClr val="bg2"/>
                </a:solidFill>
              </a:rPr>
              <a:t> Deployment via Terraform or AWS CloudFormation for reproducibility and scalability.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6D1248-5F73-9331-8401-F2F6B7D2C32E}"/>
              </a:ext>
            </a:extLst>
          </p:cNvPr>
          <p:cNvSpPr txBox="1"/>
          <p:nvPr/>
        </p:nvSpPr>
        <p:spPr>
          <a:xfrm>
            <a:off x="905655" y="5267411"/>
            <a:ext cx="525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(AWS - FREE TIER USAGE)</a:t>
            </a:r>
          </a:p>
        </p:txBody>
      </p:sp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37F92FBB-F1A6-DCA3-4B03-5EA99AE4B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7164" y="112221"/>
            <a:ext cx="5032725" cy="1209059"/>
          </a:xfrm>
        </p:spPr>
        <p:txBody>
          <a:bodyPr/>
          <a:lstStyle/>
          <a:p>
            <a:r>
              <a:rPr lang="en-US" dirty="0"/>
              <a:t>Kevins Requirements:</a:t>
            </a:r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61357E36-869D-B6D4-3E6E-ED43A227E59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/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3E47AC3-3E43-6A30-A709-127578992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09804" y="1664299"/>
            <a:ext cx="5032725" cy="3950947"/>
          </a:xfrm>
        </p:spPr>
        <p:txBody>
          <a:bodyPr>
            <a:normAutofit fontScale="55000" lnSpcReduction="20000"/>
          </a:bodyPr>
          <a:lstStyle/>
          <a:p>
            <a:pPr fontAlgn="base">
              <a:spcBef>
                <a:spcPts val="600"/>
              </a:spcBef>
            </a:pPr>
            <a:r>
              <a:rPr lang="en-US" sz="2900" b="1" u="sng" dirty="0"/>
              <a:t>Security</a:t>
            </a:r>
            <a:r>
              <a:rPr lang="en-US" sz="2900" b="1" dirty="0"/>
              <a:t>:</a:t>
            </a:r>
            <a:r>
              <a:rPr lang="en-US" sz="2900" dirty="0"/>
              <a:t> AWS IAM roles control access to the database and API.</a:t>
            </a:r>
            <a:br>
              <a:rPr lang="en-US" sz="2900" dirty="0"/>
            </a:br>
            <a:endParaRPr lang="en-US" sz="2900" dirty="0"/>
          </a:p>
          <a:p>
            <a:pPr fontAlgn="base">
              <a:spcBef>
                <a:spcPts val="600"/>
              </a:spcBef>
            </a:pPr>
            <a:r>
              <a:rPr lang="en-US" sz="2900" b="1" u="sng" dirty="0"/>
              <a:t>Reliability</a:t>
            </a:r>
            <a:r>
              <a:rPr lang="en-US" sz="2900" b="1" dirty="0"/>
              <a:t>:</a:t>
            </a:r>
            <a:r>
              <a:rPr lang="en-US" sz="2900" dirty="0"/>
              <a:t> Multi-AZ RDS database ensures uptime.</a:t>
            </a:r>
            <a:br>
              <a:rPr lang="en-US" sz="2900" dirty="0"/>
            </a:br>
            <a:endParaRPr lang="en-US" sz="2900" dirty="0"/>
          </a:p>
          <a:p>
            <a:pPr fontAlgn="base">
              <a:spcBef>
                <a:spcPts val="600"/>
              </a:spcBef>
            </a:pPr>
            <a:r>
              <a:rPr lang="en-US" sz="2900" b="1" u="sng" dirty="0"/>
              <a:t>Performance</a:t>
            </a:r>
            <a:r>
              <a:rPr lang="en-US" sz="2900" b="1" dirty="0"/>
              <a:t> </a:t>
            </a:r>
            <a:r>
              <a:rPr lang="en-US" sz="2900" b="1" u="sng" dirty="0"/>
              <a:t>Efficiency</a:t>
            </a:r>
            <a:r>
              <a:rPr lang="en-US" sz="2900" b="1" dirty="0"/>
              <a:t>:</a:t>
            </a:r>
            <a:r>
              <a:rPr lang="en-US" sz="2900" dirty="0"/>
              <a:t> Static hosting (S3 + CloudFront) improves load speed.</a:t>
            </a:r>
            <a:br>
              <a:rPr lang="en-US" sz="2900" dirty="0"/>
            </a:br>
            <a:endParaRPr lang="en-US" sz="2900" dirty="0"/>
          </a:p>
          <a:p>
            <a:pPr fontAlgn="base">
              <a:spcBef>
                <a:spcPts val="600"/>
              </a:spcBef>
            </a:pPr>
            <a:r>
              <a:rPr lang="en-US" sz="2900" b="1" u="sng" dirty="0"/>
              <a:t>Cost Optimization</a:t>
            </a:r>
            <a:r>
              <a:rPr lang="en-US" sz="2900" b="1" dirty="0"/>
              <a:t>:</a:t>
            </a:r>
            <a:r>
              <a:rPr lang="en-US" sz="2900" dirty="0"/>
              <a:t> Serverless (Lambda) reduces unused compute cost.</a:t>
            </a:r>
            <a:br>
              <a:rPr lang="en-US" sz="2900" dirty="0"/>
            </a:br>
            <a:endParaRPr lang="en-US" sz="2900" dirty="0"/>
          </a:p>
          <a:p>
            <a:pPr fontAlgn="base">
              <a:spcBef>
                <a:spcPts val="600"/>
              </a:spcBef>
            </a:pPr>
            <a:r>
              <a:rPr lang="en-US" sz="2900" b="1" u="sng" dirty="0"/>
              <a:t>Operational Excellence</a:t>
            </a:r>
            <a:r>
              <a:rPr lang="en-US" sz="2900" b="1" dirty="0"/>
              <a:t>:</a:t>
            </a:r>
            <a:r>
              <a:rPr lang="en-US" sz="2900" dirty="0"/>
              <a:t> Logging and CloudWatch give insights for improvements.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E44FC-E43E-3153-168E-0A84BD9E6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71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0027CB-3C27-FC4C-AEF9-685A21EA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81748" y="1771113"/>
            <a:ext cx="5492877" cy="3952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React Frontend (multi-page)</a:t>
            </a:r>
          </a:p>
          <a:p>
            <a:r>
              <a:rPr lang="en-US" dirty="0"/>
              <a:t>        ↓</a:t>
            </a:r>
          </a:p>
          <a:p>
            <a:r>
              <a:rPr lang="en-US" dirty="0"/>
              <a:t>CloudFront + S3 (hosting + CDN)       (NOT HERE YET)</a:t>
            </a:r>
          </a:p>
          <a:p>
            <a:r>
              <a:rPr lang="en-US" dirty="0"/>
              <a:t>        ↓</a:t>
            </a:r>
          </a:p>
          <a:p>
            <a:r>
              <a:rPr lang="en-US" dirty="0"/>
              <a:t>API Gateway (REST API)</a:t>
            </a:r>
          </a:p>
          <a:p>
            <a:r>
              <a:rPr lang="en-US" dirty="0"/>
              <a:t>        ↓</a:t>
            </a:r>
          </a:p>
          <a:p>
            <a:r>
              <a:rPr lang="en-US" dirty="0"/>
              <a:t>Lambda (Node.js)</a:t>
            </a:r>
          </a:p>
          <a:p>
            <a:r>
              <a:rPr lang="en-US" dirty="0"/>
              <a:t>        ↓</a:t>
            </a:r>
          </a:p>
          <a:p>
            <a:r>
              <a:rPr lang="en-US" dirty="0"/>
              <a:t>RDS Postgres (private subnet)</a:t>
            </a:r>
          </a:p>
          <a:p>
            <a:r>
              <a:rPr lang="en-US" dirty="0"/>
              <a:t>        ↓</a:t>
            </a:r>
          </a:p>
          <a:p>
            <a:r>
              <a:rPr lang="en-US" dirty="0"/>
              <a:t>Bedrock (AI model)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B26E6-C352-6058-735C-932EC2EB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41B9E0-BCB0-49AB-8C55-8594959A3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324" y="0"/>
            <a:ext cx="9525000" cy="1426116"/>
          </a:xfrm>
        </p:spPr>
        <p:txBody>
          <a:bodyPr/>
          <a:lstStyle/>
          <a:p>
            <a:r>
              <a:rPr lang="en-US" dirty="0"/>
              <a:t>Data Flow (Frontend)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ECE3F-EF93-7CFB-9CE4-72559845A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1" name="Picture 20" descr="The image displays a degree audit dashboard with a list of completed and upcoming courses for a CTIS program.&#10;&#10;AI-generated content may be incorrect.">
            <a:extLst>
              <a:ext uri="{FF2B5EF4-FFF2-40B4-BE49-F238E27FC236}">
                <a16:creationId xmlns:a16="http://schemas.microsoft.com/office/drawing/2014/main" id="{B4623BCC-9CBB-D4EA-7BFD-B3C5B4B65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501" y="1481613"/>
            <a:ext cx="5283493" cy="3007659"/>
          </a:xfrm>
          <a:prstGeom prst="rect">
            <a:avLst/>
          </a:prstGeom>
        </p:spPr>
      </p:pic>
      <p:pic>
        <p:nvPicPr>
          <p:cNvPr id="23" name="Picture 22" descr="The image displays the VCCC (Vancouver Community College) Academic Portal, featuring sections for Degree Audit, Course Eligibility, and Course Planner, with a backend ready for connection.&#10;&#10;AI-generated content may be incorrect.">
            <a:extLst>
              <a:ext uri="{FF2B5EF4-FFF2-40B4-BE49-F238E27FC236}">
                <a16:creationId xmlns:a16="http://schemas.microsoft.com/office/drawing/2014/main" id="{5D37416E-6BFF-8FAA-3BCC-E25143B8E7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977"/>
          <a:stretch>
            <a:fillRect/>
          </a:stretch>
        </p:blipFill>
        <p:spPr>
          <a:xfrm>
            <a:off x="1444917" y="1093694"/>
            <a:ext cx="4095271" cy="3783496"/>
          </a:xfrm>
          <a:prstGeom prst="rect">
            <a:avLst/>
          </a:prstGeom>
        </p:spPr>
      </p:pic>
      <p:pic>
        <p:nvPicPr>
          <p:cNvPr id="25" name="Picture 24" descr="The image displays a student's course registration and progress report, showing completed and remaining courses, elective status, and recommended and eligible next courses for a CTIS major.&#10;&#10;AI-generated content may be incorrect.">
            <a:extLst>
              <a:ext uri="{FF2B5EF4-FFF2-40B4-BE49-F238E27FC236}">
                <a16:creationId xmlns:a16="http://schemas.microsoft.com/office/drawing/2014/main" id="{5754E4C2-C59A-A816-1EF7-FF25593E4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8356" y="-46337"/>
            <a:ext cx="3301875" cy="6858000"/>
          </a:xfrm>
          <a:prstGeom prst="rect">
            <a:avLst/>
          </a:prstGeom>
        </p:spPr>
      </p:pic>
      <p:pic>
        <p:nvPicPr>
          <p:cNvPr id="27" name="Picture 26" descr="Guilford-Capstone-Project.&#10;&#10;AI-generated content may be incorrect.">
            <a:extLst>
              <a:ext uri="{FF2B5EF4-FFF2-40B4-BE49-F238E27FC236}">
                <a16:creationId xmlns:a16="http://schemas.microsoft.com/office/drawing/2014/main" id="{93E50758-CB51-FE1D-3058-B7C351EA20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073" y="3288653"/>
            <a:ext cx="4424065" cy="372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8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ACD0-491A-8035-0B7E-4EC59C99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9F05A9-7A31-0079-4ED7-C69976E86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324" y="0"/>
            <a:ext cx="9525000" cy="1426116"/>
          </a:xfrm>
        </p:spPr>
        <p:txBody>
          <a:bodyPr/>
          <a:lstStyle/>
          <a:p>
            <a:r>
              <a:rPr lang="en-US" dirty="0"/>
              <a:t>Data Flow (API Gateway)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073462-6798-19B4-88E2-A212B4CFF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3" name="Picture 12" descr="The image shows a dashboard of an AWS API Gateway management interface, with sections for resource management, API actions, CORS configuration, and various API methods.&#10;&#10;AI-generated content may be incorrect.">
            <a:extLst>
              <a:ext uri="{FF2B5EF4-FFF2-40B4-BE49-F238E27FC236}">
                <a16:creationId xmlns:a16="http://schemas.microsoft.com/office/drawing/2014/main" id="{365944C0-F6AE-3709-7613-6510B2B12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46" y="3176035"/>
            <a:ext cx="9355975" cy="4149492"/>
          </a:xfrm>
          <a:prstGeom prst="rect">
            <a:avLst/>
          </a:prstGeom>
        </p:spPr>
      </p:pic>
      <p:pic>
        <p:nvPicPr>
          <p:cNvPr id="17" name="Picture 16" descr="The image content provided appears to be a snippet of code, specifically JavaScript, which includes an import statement, a function for fetching degree audit information, and a function for fetching eligibility information, both using a base URL for an API.&#10;&#10;AI-generated content may be incorrect.">
            <a:extLst>
              <a:ext uri="{FF2B5EF4-FFF2-40B4-BE49-F238E27FC236}">
                <a16:creationId xmlns:a16="http://schemas.microsoft.com/office/drawing/2014/main" id="{FD25162E-D863-2DC9-21BE-BEDD687D3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1173016"/>
            <a:ext cx="5284693" cy="2122540"/>
          </a:xfrm>
          <a:prstGeom prst="rect">
            <a:avLst/>
          </a:prstGeom>
        </p:spPr>
      </p:pic>
      <p:pic>
        <p:nvPicPr>
          <p:cNvPr id="19" name="Picture 18" descr="The image content appears to be a snippet from a project's configuration files, specifically Terraform files, related to setting up an API gateway with resources for an eligibility and degree audit system.&#10;&#10;AI-generated content may be incorrect.">
            <a:extLst>
              <a:ext uri="{FF2B5EF4-FFF2-40B4-BE49-F238E27FC236}">
                <a16:creationId xmlns:a16="http://schemas.microsoft.com/office/drawing/2014/main" id="{3DA6B76D-C4E6-289B-82BF-F58DA7446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929" y="1054799"/>
            <a:ext cx="4619508" cy="212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7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53B75-B1F3-44C3-8DA2-2C297DF7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9313A8-233F-90B8-E58B-3FC2D9A1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(Lambda)</a:t>
            </a:r>
          </a:p>
        </p:txBody>
      </p:sp>
      <p:pic>
        <p:nvPicPr>
          <p:cNvPr id="10" name="Content Placeholder 9" descr="The image displays a structured list of various programming-related files and directories, including JavaScript courses, databases, functions, and package management files, suggesting a software project or application setup.&#10;&#10;AI-generated content may be incorrect.">
            <a:extLst>
              <a:ext uri="{FF2B5EF4-FFF2-40B4-BE49-F238E27FC236}">
                <a16:creationId xmlns:a16="http://schemas.microsoft.com/office/drawing/2014/main" id="{B032E848-C615-F925-30BB-5CF9445E1A2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8781578" y="3077448"/>
            <a:ext cx="1679021" cy="372076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DDCAC2-A42B-1416-56B6-62637370E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 descr="degree_audit&#10;&#10;AI-generated content may be incorrect.">
            <a:extLst>
              <a:ext uri="{FF2B5EF4-FFF2-40B4-BE49-F238E27FC236}">
                <a16:creationId xmlns:a16="http://schemas.microsoft.com/office/drawing/2014/main" id="{0857A448-3DFE-6779-3930-0E0D69371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020" y="2681486"/>
            <a:ext cx="7507940" cy="3837748"/>
          </a:xfrm>
          <a:prstGeom prst="rect">
            <a:avLst/>
          </a:prstGeom>
        </p:spPr>
      </p:pic>
      <p:pic>
        <p:nvPicPr>
          <p:cNvPr id="7" name="Picture 6" descr="The image depicts a portion of a file structure and code snippet, likely from a JavaScript project involving a lambda function and database operations, including imports, a handler function, and various module references.&#10;&#10;AI-generated content may be incorrect.">
            <a:extLst>
              <a:ext uri="{FF2B5EF4-FFF2-40B4-BE49-F238E27FC236}">
                <a16:creationId xmlns:a16="http://schemas.microsoft.com/office/drawing/2014/main" id="{C6B38D93-E2B1-388F-D9F3-13916BCDA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314" y="192742"/>
            <a:ext cx="5040828" cy="283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6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E2532-F4A7-30E2-0525-1FF82D28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3" name="Picture 12" descr="The image appears to be a screenshot of a file explorer interface, possibly a code editor, showing a directory structure for a project named 'Guilford-capstone-project'.&#10;&#10;AI-generated content may be incorrect.">
            <a:extLst>
              <a:ext uri="{FF2B5EF4-FFF2-40B4-BE49-F238E27FC236}">
                <a16:creationId xmlns:a16="http://schemas.microsoft.com/office/drawing/2014/main" id="{D4FCC413-0E8A-EDC0-A87C-7ADB80E28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615"/>
          <a:stretch>
            <a:fillRect/>
          </a:stretch>
        </p:blipFill>
        <p:spPr>
          <a:xfrm>
            <a:off x="680993" y="2364209"/>
            <a:ext cx="5867400" cy="401600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68BA3FE-5A24-8C2C-892E-AD39DDDA88D5}"/>
              </a:ext>
            </a:extLst>
          </p:cNvPr>
          <p:cNvSpPr/>
          <p:nvPr/>
        </p:nvSpPr>
        <p:spPr>
          <a:xfrm>
            <a:off x="1089130" y="2782888"/>
            <a:ext cx="772921" cy="98693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3FF239-4AD4-FB00-3856-2BBE94F7590F}"/>
              </a:ext>
            </a:extLst>
          </p:cNvPr>
          <p:cNvSpPr txBox="1"/>
          <p:nvPr/>
        </p:nvSpPr>
        <p:spPr>
          <a:xfrm>
            <a:off x="1423319" y="384951"/>
            <a:ext cx="528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+mj-lt"/>
              </a:rPr>
              <a:t>IAC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F30121-7249-F8B4-1A58-9C8EB290AA64}"/>
              </a:ext>
            </a:extLst>
          </p:cNvPr>
          <p:cNvSpPr txBox="1"/>
          <p:nvPr/>
        </p:nvSpPr>
        <p:spPr>
          <a:xfrm>
            <a:off x="7734014" y="1977139"/>
            <a:ext cx="27880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Backend</a:t>
            </a:r>
          </a:p>
          <a:p>
            <a:r>
              <a:rPr lang="en-US" sz="3600" dirty="0">
                <a:solidFill>
                  <a:schemeClr val="bg2"/>
                </a:solidFill>
              </a:rPr>
              <a:t>Data</a:t>
            </a:r>
          </a:p>
          <a:p>
            <a:r>
              <a:rPr lang="en-US" sz="3600" dirty="0">
                <a:solidFill>
                  <a:schemeClr val="bg2"/>
                </a:solidFill>
              </a:rPr>
              <a:t>Docs</a:t>
            </a:r>
          </a:p>
          <a:p>
            <a:r>
              <a:rPr lang="en-US" sz="3600" dirty="0">
                <a:solidFill>
                  <a:schemeClr val="bg2"/>
                </a:solidFill>
              </a:rPr>
              <a:t>Frontend</a:t>
            </a:r>
          </a:p>
          <a:p>
            <a:r>
              <a:rPr lang="en-US" sz="3600" dirty="0">
                <a:solidFill>
                  <a:schemeClr val="bg2"/>
                </a:solidFill>
              </a:rPr>
              <a:t>IAC</a:t>
            </a:r>
          </a:p>
          <a:p>
            <a:r>
              <a:rPr lang="en-US" sz="3600" dirty="0">
                <a:solidFill>
                  <a:schemeClr val="bg2"/>
                </a:solidFill>
              </a:rPr>
              <a:t>Lambda</a:t>
            </a:r>
          </a:p>
        </p:txBody>
      </p:sp>
    </p:spTree>
    <p:extLst>
      <p:ext uri="{BB962C8B-B14F-4D97-AF65-F5344CB8AC3E}">
        <p14:creationId xmlns:p14="http://schemas.microsoft.com/office/powerpoint/2010/main" val="247034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265B2-146B-B669-AC99-957CC29C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9F248-499B-C1DE-E66B-C117DB0EA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Picture 9" descr="The image displays a SQL query result set, showing a table with columns 'degree', 'requirement_type', and 'course_id', listing various course codes and their requirement types.&#10;&#10;AI-generated content may be incorrect.">
            <a:extLst>
              <a:ext uri="{FF2B5EF4-FFF2-40B4-BE49-F238E27FC236}">
                <a16:creationId xmlns:a16="http://schemas.microsoft.com/office/drawing/2014/main" id="{743E3979-F4B7-A982-6331-F4A643C524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330"/>
          <a:stretch>
            <a:fillRect/>
          </a:stretch>
        </p:blipFill>
        <p:spPr>
          <a:xfrm>
            <a:off x="9531194" y="3505200"/>
            <a:ext cx="2423242" cy="3177988"/>
          </a:xfrm>
          <a:prstGeom prst="rect">
            <a:avLst/>
          </a:prstGeom>
        </p:spPr>
      </p:pic>
      <p:pic>
        <p:nvPicPr>
          <p:cNvPr id="4" name="Picture 3" descr="The image content appears to be a complex web of file names and file paths, suggesting a directory structure for a project or a documentation system, likely related to a computer science or engineering course.&#10;&#10;AI-generated content may be incorrect.">
            <a:extLst>
              <a:ext uri="{FF2B5EF4-FFF2-40B4-BE49-F238E27FC236}">
                <a16:creationId xmlns:a16="http://schemas.microsoft.com/office/drawing/2014/main" id="{2C070CC7-0AB5-C04D-9330-0A900FD43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64" y="650288"/>
            <a:ext cx="8184776" cy="3160145"/>
          </a:xfrm>
          <a:prstGeom prst="rect">
            <a:avLst/>
          </a:prstGeom>
        </p:spPr>
      </p:pic>
      <p:pic>
        <p:nvPicPr>
          <p:cNvPr id="6" name="Picture 5" descr="The image shows a file explorer interface displaying various JavaScript files and JSON data files related to a project, including course prerequisites and course information.&#10;&#10;AI-generated content may be incorrect.">
            <a:extLst>
              <a:ext uri="{FF2B5EF4-FFF2-40B4-BE49-F238E27FC236}">
                <a16:creationId xmlns:a16="http://schemas.microsoft.com/office/drawing/2014/main" id="{0040AF37-C7AA-B13B-5DA8-27621D834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739" y="3854823"/>
            <a:ext cx="5385168" cy="2920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781295-1CC6-EBF2-87B6-7AC54A650BD7}"/>
              </a:ext>
            </a:extLst>
          </p:cNvPr>
          <p:cNvSpPr txBox="1"/>
          <p:nvPr/>
        </p:nvSpPr>
        <p:spPr>
          <a:xfrm>
            <a:off x="8701112" y="967013"/>
            <a:ext cx="24570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+mj-lt"/>
              </a:rPr>
              <a:t>Database</a:t>
            </a:r>
          </a:p>
          <a:p>
            <a:r>
              <a:rPr lang="en-US" sz="3600" dirty="0">
                <a:solidFill>
                  <a:schemeClr val="bg2"/>
                </a:solidFill>
                <a:latin typeface="+mj-lt"/>
              </a:rPr>
              <a:t>(RDS </a:t>
            </a:r>
          </a:p>
          <a:p>
            <a:r>
              <a:rPr lang="en-US" sz="3600" dirty="0">
                <a:solidFill>
                  <a:schemeClr val="bg2"/>
                </a:solidFill>
                <a:latin typeface="+mj-lt"/>
              </a:rPr>
              <a:t>Postgres)</a:t>
            </a:r>
          </a:p>
        </p:txBody>
      </p:sp>
    </p:spTree>
    <p:extLst>
      <p:ext uri="{BB962C8B-B14F-4D97-AF65-F5344CB8AC3E}">
        <p14:creationId xmlns:p14="http://schemas.microsoft.com/office/powerpoint/2010/main" val="1333725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 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45A947-3A13-F219-12D3-B3864AE923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62805" y="1746175"/>
            <a:ext cx="9743250" cy="3578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85% complete (DB, Backend, Logic, API, Endpoints)</a:t>
            </a:r>
          </a:p>
          <a:p>
            <a:pPr marL="0" indent="0">
              <a:buNone/>
            </a:pPr>
            <a:r>
              <a:rPr lang="en-US" dirty="0"/>
              <a:t>Finish Frontend, (pages, endpoints, UI-friendly, fully functional)</a:t>
            </a:r>
          </a:p>
          <a:p>
            <a:pPr marL="0" indent="0">
              <a:buNone/>
            </a:pPr>
            <a:r>
              <a:rPr lang="en-US" dirty="0"/>
              <a:t>Deploy onto S3</a:t>
            </a:r>
          </a:p>
          <a:p>
            <a:pPr marL="0" indent="0">
              <a:buNone/>
            </a:pPr>
            <a:r>
              <a:rPr lang="en-US" dirty="0"/>
              <a:t>Add in AI Bedrock advisory/responses for Users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OPTIONAL (IF I GET THERE):</a:t>
            </a:r>
          </a:p>
          <a:p>
            <a:pPr marL="0" indent="0">
              <a:buNone/>
            </a:pPr>
            <a:r>
              <a:rPr lang="en-US" dirty="0"/>
              <a:t>Increase services, capabilities,</a:t>
            </a:r>
          </a:p>
          <a:p>
            <a:pPr marL="0" indent="0">
              <a:buNone/>
            </a:pPr>
            <a:r>
              <a:rPr lang="en-US" dirty="0"/>
              <a:t>Develop App version</a:t>
            </a:r>
          </a:p>
          <a:p>
            <a:pPr marL="0" indent="0">
              <a:buNone/>
            </a:pPr>
            <a:r>
              <a:rPr lang="en-US" dirty="0"/>
              <a:t>Add Alumni page/users (database increase as well)</a:t>
            </a:r>
          </a:p>
        </p:txBody>
      </p:sp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{89337E7E-754D-4E0F-91B1-0D65E92D9FC6}TFce6c19b5-b857-4146-b2d9-33ca01394bc5af92e1a2_win32-293333268dd9</Template>
  <TotalTime>43</TotalTime>
  <Words>471</Words>
  <Application>Microsoft Office PowerPoint</Application>
  <PresentationFormat>Widescreen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Nova Light</vt:lpstr>
      <vt:lpstr>Calibri</vt:lpstr>
      <vt:lpstr>Elephant</vt:lpstr>
      <vt:lpstr>ModOverlayVTI</vt:lpstr>
      <vt:lpstr>Dynamic Academic Course Advisor CTIS (440  Capstone)</vt:lpstr>
      <vt:lpstr>Basic</vt:lpstr>
      <vt:lpstr>CLOUD Architecture: </vt:lpstr>
      <vt:lpstr>Kevins Requirements:</vt:lpstr>
      <vt:lpstr>Data Flow</vt:lpstr>
      <vt:lpstr>Data Flow (Frontend)</vt:lpstr>
      <vt:lpstr>Data Flow (API Gateway)</vt:lpstr>
      <vt:lpstr>Data Flow (Lambda)</vt:lpstr>
      <vt:lpstr>PowerPoint Presentation</vt:lpstr>
      <vt:lpstr>PowerPoint Presentation</vt:lpstr>
      <vt:lpstr>Where I 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R. Wheeler</dc:creator>
  <cp:lastModifiedBy>Lucas R. Wheeler</cp:lastModifiedBy>
  <cp:revision>1</cp:revision>
  <dcterms:created xsi:type="dcterms:W3CDTF">2026-03-30T13:10:47Z</dcterms:created>
  <dcterms:modified xsi:type="dcterms:W3CDTF">2026-03-30T13:54:05Z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